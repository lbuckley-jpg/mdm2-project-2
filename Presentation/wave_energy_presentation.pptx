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70" r:id="rId8"/>
    <p:sldId id="271" r:id="rId9"/>
    <p:sldId id="272" r:id="rId10"/>
    <p:sldId id="273" r:id="rId11"/>
    <p:sldId id="274" r:id="rId12"/>
    <p:sldId id="267" r:id="rId13"/>
    <p:sldId id="269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EBF3"/>
    <a:srgbClr val="FFFFFF"/>
    <a:srgbClr val="BED4E4"/>
    <a:srgbClr val="F1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101" y="32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5ED64C0-D682-489D-88B8-4C5E3C41C7B8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0DAD73FB-7B7A-440A-83B3-4D08618354D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Wave energy is a renewable energy source</a:t>
          </a:r>
        </a:p>
      </dgm:t>
    </dgm:pt>
    <dgm:pt modelId="{9908CCE6-195F-4FD8-88D5-E836601C17CC}" type="parTrans" cxnId="{6E3AED5E-BA0F-484A-AFC0-B150466CD1AC}">
      <dgm:prSet/>
      <dgm:spPr/>
      <dgm:t>
        <a:bodyPr/>
        <a:lstStyle/>
        <a:p>
          <a:endParaRPr lang="en-US"/>
        </a:p>
      </dgm:t>
    </dgm:pt>
    <dgm:pt modelId="{5007F55C-4D41-4B31-BAAB-6DF16C98402C}" type="sibTrans" cxnId="{6E3AED5E-BA0F-484A-AFC0-B150466CD1AC}">
      <dgm:prSet/>
      <dgm:spPr/>
      <dgm:t>
        <a:bodyPr/>
        <a:lstStyle/>
        <a:p>
          <a:endParaRPr lang="en-US"/>
        </a:p>
      </dgm:t>
    </dgm:pt>
    <dgm:pt modelId="{4FAB08B4-A2B5-42A3-9AF0-BCAB3DD6BBC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Point absorbers convert wave motion into electricity</a:t>
          </a:r>
        </a:p>
      </dgm:t>
    </dgm:pt>
    <dgm:pt modelId="{77806253-567F-492C-A547-A0A24C3781BA}" type="parTrans" cxnId="{652E7008-501C-48CD-BD31-58DFB8DCCD02}">
      <dgm:prSet/>
      <dgm:spPr/>
      <dgm:t>
        <a:bodyPr/>
        <a:lstStyle/>
        <a:p>
          <a:endParaRPr lang="en-US"/>
        </a:p>
      </dgm:t>
    </dgm:pt>
    <dgm:pt modelId="{2E714303-B63C-4048-8892-4DC8E784998D}" type="sibTrans" cxnId="{652E7008-501C-48CD-BD31-58DFB8DCCD02}">
      <dgm:prSet/>
      <dgm:spPr/>
      <dgm:t>
        <a:bodyPr/>
        <a:lstStyle/>
        <a:p>
          <a:endParaRPr lang="en-US"/>
        </a:p>
      </dgm:t>
    </dgm:pt>
    <dgm:pt modelId="{2D37665E-0832-4640-82A3-88676C774A1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Goal: maximise power extraction</a:t>
          </a:r>
        </a:p>
      </dgm:t>
    </dgm:pt>
    <dgm:pt modelId="{CDF49519-3392-4C21-9D97-6AD16A713735}" type="parTrans" cxnId="{F8A61770-B487-4660-8689-931CFC57615B}">
      <dgm:prSet/>
      <dgm:spPr/>
      <dgm:t>
        <a:bodyPr/>
        <a:lstStyle/>
        <a:p>
          <a:endParaRPr lang="en-US"/>
        </a:p>
      </dgm:t>
    </dgm:pt>
    <dgm:pt modelId="{9DA0D4C4-EB56-40CB-A8C6-D56041ABBAB2}" type="sibTrans" cxnId="{F8A61770-B487-4660-8689-931CFC57615B}">
      <dgm:prSet/>
      <dgm:spPr/>
      <dgm:t>
        <a:bodyPr/>
        <a:lstStyle/>
        <a:p>
          <a:endParaRPr lang="en-US"/>
        </a:p>
      </dgm:t>
    </dgm:pt>
    <dgm:pt modelId="{FC738DC8-217A-4625-AC58-1A88F6BC8704}" type="pres">
      <dgm:prSet presAssocID="{65ED64C0-D682-489D-88B8-4C5E3C41C7B8}" presName="root" presStyleCnt="0">
        <dgm:presLayoutVars>
          <dgm:dir/>
          <dgm:resizeHandles val="exact"/>
        </dgm:presLayoutVars>
      </dgm:prSet>
      <dgm:spPr/>
    </dgm:pt>
    <dgm:pt modelId="{68FFE5D0-FB95-4DCC-96FA-1AD9AFD3D706}" type="pres">
      <dgm:prSet presAssocID="{0DAD73FB-7B7A-440A-83B3-4D08618354D7}" presName="compNode" presStyleCnt="0"/>
      <dgm:spPr/>
    </dgm:pt>
    <dgm:pt modelId="{15623AA1-C2D3-49E4-9916-DC5AEE524E9A}" type="pres">
      <dgm:prSet presAssocID="{0DAD73FB-7B7A-440A-83B3-4D08618354D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n"/>
        </a:ext>
      </dgm:extLst>
    </dgm:pt>
    <dgm:pt modelId="{4C60BD36-5E41-4454-99AC-8F775EC1D774}" type="pres">
      <dgm:prSet presAssocID="{0DAD73FB-7B7A-440A-83B3-4D08618354D7}" presName="spaceRect" presStyleCnt="0"/>
      <dgm:spPr/>
    </dgm:pt>
    <dgm:pt modelId="{0E84C71E-D582-40F1-ABB2-44DBDA25D422}" type="pres">
      <dgm:prSet presAssocID="{0DAD73FB-7B7A-440A-83B3-4D08618354D7}" presName="textRect" presStyleLbl="revTx" presStyleIdx="0" presStyleCnt="3">
        <dgm:presLayoutVars>
          <dgm:chMax val="1"/>
          <dgm:chPref val="1"/>
        </dgm:presLayoutVars>
      </dgm:prSet>
      <dgm:spPr/>
    </dgm:pt>
    <dgm:pt modelId="{B06A7EDB-5D25-43AB-B323-F11E154020BD}" type="pres">
      <dgm:prSet presAssocID="{5007F55C-4D41-4B31-BAAB-6DF16C98402C}" presName="sibTrans" presStyleCnt="0"/>
      <dgm:spPr/>
    </dgm:pt>
    <dgm:pt modelId="{20835792-7B56-4917-BAE8-B22896FABDA0}" type="pres">
      <dgm:prSet presAssocID="{4FAB08B4-A2B5-42A3-9AF0-BCAB3DD6BBC3}" presName="compNode" presStyleCnt="0"/>
      <dgm:spPr/>
    </dgm:pt>
    <dgm:pt modelId="{8B7EEFC6-389B-494F-A87D-0EA0884D215E}" type="pres">
      <dgm:prSet presAssocID="{4FAB08B4-A2B5-42A3-9AF0-BCAB3DD6BB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gh Voltage"/>
        </a:ext>
      </dgm:extLst>
    </dgm:pt>
    <dgm:pt modelId="{AD66D55F-D5AA-4DBF-A651-1CD34518346F}" type="pres">
      <dgm:prSet presAssocID="{4FAB08B4-A2B5-42A3-9AF0-BCAB3DD6BBC3}" presName="spaceRect" presStyleCnt="0"/>
      <dgm:spPr/>
    </dgm:pt>
    <dgm:pt modelId="{1F06EFA1-D441-4E6B-B9A2-B7E327E18A35}" type="pres">
      <dgm:prSet presAssocID="{4FAB08B4-A2B5-42A3-9AF0-BCAB3DD6BBC3}" presName="textRect" presStyleLbl="revTx" presStyleIdx="1" presStyleCnt="3">
        <dgm:presLayoutVars>
          <dgm:chMax val="1"/>
          <dgm:chPref val="1"/>
        </dgm:presLayoutVars>
      </dgm:prSet>
      <dgm:spPr/>
    </dgm:pt>
    <dgm:pt modelId="{3E785E4C-E547-4625-B886-42DD96C4298C}" type="pres">
      <dgm:prSet presAssocID="{2E714303-B63C-4048-8892-4DC8E784998D}" presName="sibTrans" presStyleCnt="0"/>
      <dgm:spPr/>
    </dgm:pt>
    <dgm:pt modelId="{EE79EFE0-69BA-4496-B4C3-0E2FEEC76584}" type="pres">
      <dgm:prSet presAssocID="{2D37665E-0832-4640-82A3-88676C774A17}" presName="compNode" presStyleCnt="0"/>
      <dgm:spPr/>
    </dgm:pt>
    <dgm:pt modelId="{EC3B2A4B-87F7-4492-BD0E-9CF56885BC16}" type="pres">
      <dgm:prSet presAssocID="{2D37665E-0832-4640-82A3-88676C774A1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0004287C-C44E-4C1A-B5CC-BA2E1E2A384B}" type="pres">
      <dgm:prSet presAssocID="{2D37665E-0832-4640-82A3-88676C774A17}" presName="spaceRect" presStyleCnt="0"/>
      <dgm:spPr/>
    </dgm:pt>
    <dgm:pt modelId="{0155CC82-E0E3-468B-B6E1-575B0D96137F}" type="pres">
      <dgm:prSet presAssocID="{2D37665E-0832-4640-82A3-88676C774A1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652E7008-501C-48CD-BD31-58DFB8DCCD02}" srcId="{65ED64C0-D682-489D-88B8-4C5E3C41C7B8}" destId="{4FAB08B4-A2B5-42A3-9AF0-BCAB3DD6BBC3}" srcOrd="1" destOrd="0" parTransId="{77806253-567F-492C-A547-A0A24C3781BA}" sibTransId="{2E714303-B63C-4048-8892-4DC8E784998D}"/>
    <dgm:cxn modelId="{6E3AED5E-BA0F-484A-AFC0-B150466CD1AC}" srcId="{65ED64C0-D682-489D-88B8-4C5E3C41C7B8}" destId="{0DAD73FB-7B7A-440A-83B3-4D08618354D7}" srcOrd="0" destOrd="0" parTransId="{9908CCE6-195F-4FD8-88D5-E836601C17CC}" sibTransId="{5007F55C-4D41-4B31-BAAB-6DF16C98402C}"/>
    <dgm:cxn modelId="{F8A61770-B487-4660-8689-931CFC57615B}" srcId="{65ED64C0-D682-489D-88B8-4C5E3C41C7B8}" destId="{2D37665E-0832-4640-82A3-88676C774A17}" srcOrd="2" destOrd="0" parTransId="{CDF49519-3392-4C21-9D97-6AD16A713735}" sibTransId="{9DA0D4C4-EB56-40CB-A8C6-D56041ABBAB2}"/>
    <dgm:cxn modelId="{3AAE0675-B64D-459F-AD65-1B15FC98A3AD}" type="presOf" srcId="{4FAB08B4-A2B5-42A3-9AF0-BCAB3DD6BBC3}" destId="{1F06EFA1-D441-4E6B-B9A2-B7E327E18A35}" srcOrd="0" destOrd="0" presId="urn:microsoft.com/office/officeart/2018/2/layout/IconLabelList"/>
    <dgm:cxn modelId="{1466B694-B2B4-44E4-BAB3-72FB88FCA41E}" type="presOf" srcId="{65ED64C0-D682-489D-88B8-4C5E3C41C7B8}" destId="{FC738DC8-217A-4625-AC58-1A88F6BC8704}" srcOrd="0" destOrd="0" presId="urn:microsoft.com/office/officeart/2018/2/layout/IconLabelList"/>
    <dgm:cxn modelId="{9303D8A3-9F96-42E6-91B6-D538D582D057}" type="presOf" srcId="{0DAD73FB-7B7A-440A-83B3-4D08618354D7}" destId="{0E84C71E-D582-40F1-ABB2-44DBDA25D422}" srcOrd="0" destOrd="0" presId="urn:microsoft.com/office/officeart/2018/2/layout/IconLabelList"/>
    <dgm:cxn modelId="{C2A2EFB9-B103-4F46-AB76-7478168BBF1D}" type="presOf" srcId="{2D37665E-0832-4640-82A3-88676C774A17}" destId="{0155CC82-E0E3-468B-B6E1-575B0D96137F}" srcOrd="0" destOrd="0" presId="urn:microsoft.com/office/officeart/2018/2/layout/IconLabelList"/>
    <dgm:cxn modelId="{5FB24A6F-0E58-4540-92DA-D3F78B46B1EB}" type="presParOf" srcId="{FC738DC8-217A-4625-AC58-1A88F6BC8704}" destId="{68FFE5D0-FB95-4DCC-96FA-1AD9AFD3D706}" srcOrd="0" destOrd="0" presId="urn:microsoft.com/office/officeart/2018/2/layout/IconLabelList"/>
    <dgm:cxn modelId="{5D591DFE-06A9-4E1D-9E1F-03426B94DB73}" type="presParOf" srcId="{68FFE5D0-FB95-4DCC-96FA-1AD9AFD3D706}" destId="{15623AA1-C2D3-49E4-9916-DC5AEE524E9A}" srcOrd="0" destOrd="0" presId="urn:microsoft.com/office/officeart/2018/2/layout/IconLabelList"/>
    <dgm:cxn modelId="{467DF418-13AC-47B9-BDD6-EE98AC7AB142}" type="presParOf" srcId="{68FFE5D0-FB95-4DCC-96FA-1AD9AFD3D706}" destId="{4C60BD36-5E41-4454-99AC-8F775EC1D774}" srcOrd="1" destOrd="0" presId="urn:microsoft.com/office/officeart/2018/2/layout/IconLabelList"/>
    <dgm:cxn modelId="{25FEF692-63D4-4CE2-946C-2C8486AF056E}" type="presParOf" srcId="{68FFE5D0-FB95-4DCC-96FA-1AD9AFD3D706}" destId="{0E84C71E-D582-40F1-ABB2-44DBDA25D422}" srcOrd="2" destOrd="0" presId="urn:microsoft.com/office/officeart/2018/2/layout/IconLabelList"/>
    <dgm:cxn modelId="{1D72BD99-1AF4-4967-8FB5-1D3A311D1F0C}" type="presParOf" srcId="{FC738DC8-217A-4625-AC58-1A88F6BC8704}" destId="{B06A7EDB-5D25-43AB-B323-F11E154020BD}" srcOrd="1" destOrd="0" presId="urn:microsoft.com/office/officeart/2018/2/layout/IconLabelList"/>
    <dgm:cxn modelId="{E393F973-3AEF-4BD4-BE08-7DAECC8DADF3}" type="presParOf" srcId="{FC738DC8-217A-4625-AC58-1A88F6BC8704}" destId="{20835792-7B56-4917-BAE8-B22896FABDA0}" srcOrd="2" destOrd="0" presId="urn:microsoft.com/office/officeart/2018/2/layout/IconLabelList"/>
    <dgm:cxn modelId="{C92B29FB-15BD-4E44-875C-6D3EC2058F13}" type="presParOf" srcId="{20835792-7B56-4917-BAE8-B22896FABDA0}" destId="{8B7EEFC6-389B-494F-A87D-0EA0884D215E}" srcOrd="0" destOrd="0" presId="urn:microsoft.com/office/officeart/2018/2/layout/IconLabelList"/>
    <dgm:cxn modelId="{EC45E543-B925-4F6B-8EAC-9D60DDC9AD66}" type="presParOf" srcId="{20835792-7B56-4917-BAE8-B22896FABDA0}" destId="{AD66D55F-D5AA-4DBF-A651-1CD34518346F}" srcOrd="1" destOrd="0" presId="urn:microsoft.com/office/officeart/2018/2/layout/IconLabelList"/>
    <dgm:cxn modelId="{2BD57C07-13F1-4923-9BC3-145953261A54}" type="presParOf" srcId="{20835792-7B56-4917-BAE8-B22896FABDA0}" destId="{1F06EFA1-D441-4E6B-B9A2-B7E327E18A35}" srcOrd="2" destOrd="0" presId="urn:microsoft.com/office/officeart/2018/2/layout/IconLabelList"/>
    <dgm:cxn modelId="{60DFCB16-5A74-436F-8C37-28189D26C2D6}" type="presParOf" srcId="{FC738DC8-217A-4625-AC58-1A88F6BC8704}" destId="{3E785E4C-E547-4625-B886-42DD96C4298C}" srcOrd="3" destOrd="0" presId="urn:microsoft.com/office/officeart/2018/2/layout/IconLabelList"/>
    <dgm:cxn modelId="{7F31831B-F171-43DF-9DD1-F3A8822A9EB5}" type="presParOf" srcId="{FC738DC8-217A-4625-AC58-1A88F6BC8704}" destId="{EE79EFE0-69BA-4496-B4C3-0E2FEEC76584}" srcOrd="4" destOrd="0" presId="urn:microsoft.com/office/officeart/2018/2/layout/IconLabelList"/>
    <dgm:cxn modelId="{C63664D5-37F8-4200-9B75-A518C382F09B}" type="presParOf" srcId="{EE79EFE0-69BA-4496-B4C3-0E2FEEC76584}" destId="{EC3B2A4B-87F7-4492-BD0E-9CF56885BC16}" srcOrd="0" destOrd="0" presId="urn:microsoft.com/office/officeart/2018/2/layout/IconLabelList"/>
    <dgm:cxn modelId="{6ECBD7F0-D91F-4F80-8B89-4DB1F484A3D8}" type="presParOf" srcId="{EE79EFE0-69BA-4496-B4C3-0E2FEEC76584}" destId="{0004287C-C44E-4C1A-B5CC-BA2E1E2A384B}" srcOrd="1" destOrd="0" presId="urn:microsoft.com/office/officeart/2018/2/layout/IconLabelList"/>
    <dgm:cxn modelId="{8282BD48-8F42-43CF-9B76-4CB93B23378F}" type="presParOf" srcId="{EE79EFE0-69BA-4496-B4C3-0E2FEEC76584}" destId="{0155CC82-E0E3-468B-B6E1-575B0D96137F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623AA1-C2D3-49E4-9916-DC5AEE524E9A}">
      <dsp:nvSpPr>
        <dsp:cNvPr id="0" name=""/>
        <dsp:cNvSpPr/>
      </dsp:nvSpPr>
      <dsp:spPr>
        <a:xfrm>
          <a:off x="1212569" y="987197"/>
          <a:ext cx="1300252" cy="130025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84C71E-D582-40F1-ABB2-44DBDA25D422}">
      <dsp:nvSpPr>
        <dsp:cNvPr id="0" name=""/>
        <dsp:cNvSpPr/>
      </dsp:nvSpPr>
      <dsp:spPr>
        <a:xfrm>
          <a:off x="417971" y="2644140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Wave energy is a renewable energy source</a:t>
          </a:r>
        </a:p>
      </dsp:txBody>
      <dsp:txXfrm>
        <a:off x="417971" y="2644140"/>
        <a:ext cx="2889450" cy="720000"/>
      </dsp:txXfrm>
    </dsp:sp>
    <dsp:sp modelId="{8B7EEFC6-389B-494F-A87D-0EA0884D215E}">
      <dsp:nvSpPr>
        <dsp:cNvPr id="0" name=""/>
        <dsp:cNvSpPr/>
      </dsp:nvSpPr>
      <dsp:spPr>
        <a:xfrm>
          <a:off x="4607673" y="987197"/>
          <a:ext cx="1300252" cy="130025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06EFA1-D441-4E6B-B9A2-B7E327E18A35}">
      <dsp:nvSpPr>
        <dsp:cNvPr id="0" name=""/>
        <dsp:cNvSpPr/>
      </dsp:nvSpPr>
      <dsp:spPr>
        <a:xfrm>
          <a:off x="3813075" y="2644140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Point absorbers convert wave motion into electricity</a:t>
          </a:r>
        </a:p>
      </dsp:txBody>
      <dsp:txXfrm>
        <a:off x="3813075" y="2644140"/>
        <a:ext cx="2889450" cy="720000"/>
      </dsp:txXfrm>
    </dsp:sp>
    <dsp:sp modelId="{EC3B2A4B-87F7-4492-BD0E-9CF56885BC16}">
      <dsp:nvSpPr>
        <dsp:cNvPr id="0" name=""/>
        <dsp:cNvSpPr/>
      </dsp:nvSpPr>
      <dsp:spPr>
        <a:xfrm>
          <a:off x="8002777" y="987197"/>
          <a:ext cx="1300252" cy="130025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55CC82-E0E3-468B-B6E1-575B0D96137F}">
      <dsp:nvSpPr>
        <dsp:cNvPr id="0" name=""/>
        <dsp:cNvSpPr/>
      </dsp:nvSpPr>
      <dsp:spPr>
        <a:xfrm>
          <a:off x="7208178" y="2644140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Goal: maximise power extraction</a:t>
          </a:r>
        </a:p>
      </dsp:txBody>
      <dsp:txXfrm>
        <a:off x="7208178" y="2644140"/>
        <a:ext cx="28894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80406-EE79-4ADC-8269-F7B315C9AB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07D8F7-8EB0-04A0-F698-D131BF563B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0C282-386A-DD9B-0AAD-11D3465B6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3BB256-2F46-9CF7-CA56-1F49BF7CE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949AFC-21CE-D8CE-4B8D-7DD8C7CB0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062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3948D-655F-64A5-D839-CA767DDB2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376706-9CF9-4B52-3BBA-0D9FAA2467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FEC238-EEBF-849A-B212-48597B9EA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CEC22C-4337-27D8-01B8-36103CE8A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362CC-BC1A-8AE1-7E90-ACCA09F9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439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BAF2C-965F-3F2A-BE0A-91B9B6665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68FA70-172B-6C0D-77F6-17640C63C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3A8F4-CB1C-0EC3-69A9-416AAE2CC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EB058D-DB16-0757-20ED-67DB68880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538F1-E881-2253-31A0-541BD5AE8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23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CA620-B30D-AB02-0152-B72A8112B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961E7-B305-0BAC-5B06-219323FC1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FCE252-81EE-8DA1-850D-DA61F80D9D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152CFD-C518-06A4-0B92-896628341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B70E7-722D-7533-78B2-B83A5617A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41DB51-B35D-17C5-ED1E-46FB6DC3F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6302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F8CD8-D8D2-26C5-DBEB-4C43B26C1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FABE5B-AF56-B91D-7F67-188541FE91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87057-31A9-2808-09F1-AE7D9409DF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1700DA-5C4A-5354-3C62-1F2E10B461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5B0E5F-3614-E48D-7F2B-2BFEA1FD49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2C716A1-80E5-F995-3F36-CA9BDB9F4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0E3A72-511F-C40A-340F-61E7722E1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D0B8CE-E50C-FC62-C4B5-13C6DDEF8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08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DC037-CD20-27A6-D641-6CE8F034F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8B9510-4A40-FED9-1EDB-51226E598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3D3F7A-E2EF-06F0-E426-34C2DA845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01A11F-282C-27C7-97FB-E464C815D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591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BC4A7E-5FEA-667C-87D1-CBB813A70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C95BEA-DDC3-DCE6-20FC-E6C617081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E3F02A-6ED5-F083-61EC-2F4A6FBFC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05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20750-FC07-7F72-20E0-AD324452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4C40E-3CC7-28BF-C62C-51F02C7C47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24AF98-4FFB-6E9E-234F-63977D0B8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D100AD-2899-C425-E3F1-30DCE4A3E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6CCDB7-BC33-7980-B51A-E88DB18F4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1A2819-CA51-C48E-BC95-180591ADC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11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179A9-2D7D-EAF9-485C-DC32CC028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552B9D-F2AB-F215-1E5E-2D90C5FD96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1C96D6-E97A-4848-06AC-85CF092F8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D0E51A-E24E-91B5-89D0-EAA7BAC6B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453E1-9047-D151-5B7E-53B2ACC60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66A499-5FE3-0B6D-8830-FE54746CA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381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49BD3-6E40-BAE5-4535-358820EB1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ABF06-C1E8-79F7-0906-79FCDBAC1F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8707B-3323-AFAF-5E96-FD4382B61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905F60-780F-F399-2306-4A6522ED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79D01-9DEA-8B69-4EF3-D9E6720D0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27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CBEF57-A3EC-C952-405B-B078611014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7E5C0E-7689-6B33-EF41-901428F697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89ED3E-A94B-1839-5C9C-6AC60C91F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617621-FA66-CEE9-FB80-250AEAC63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8B292-716A-729B-0666-EBF98AF0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693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22C0BA-2929-ACEC-89BA-B6761AC7E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3F4BF7-9A86-EA25-FAEE-265C8AB25B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410B1-9301-A907-D0AE-077A65DCA3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DDCE8-5294-F99D-0AD5-93D0DCE0E6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2BB3C-FFE7-8EA4-9D75-6C5E142211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786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rgbClr val="E1EBF3"/>
            </a:gs>
            <a:gs pos="58000">
              <a:srgbClr val="FFFFF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Wave Energy Converter Control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Point Absorber Buoy Model</a:t>
            </a:r>
          </a:p>
          <a:p>
            <a:r>
              <a:t>Group 15</a:t>
            </a:r>
          </a:p>
          <a:p>
            <a:r>
              <a:t>Wave Energy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rgbClr val="E1EBF3"/>
            </a:gs>
            <a:gs pos="58000">
              <a:srgbClr val="FFFFF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57363FD-7E77-4145-9483-331A807A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6802" cy="6858000"/>
          </a:xfrm>
          <a:prstGeom prst="rect">
            <a:avLst/>
          </a:prstGeom>
          <a:gradFill flip="none" rotWithShape="1">
            <a:gsLst>
              <a:gs pos="28000">
                <a:schemeClr val="bg2">
                  <a:alpha val="84000"/>
                </a:schemeClr>
              </a:gs>
              <a:gs pos="7400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/>
              <a:t>Problem 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0A69008-4E8A-DA04-EA9B-385EF1C0B0F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013705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Physical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Heave motion (vertical oscillation)</a:t>
            </a:r>
          </a:p>
          <a:p>
            <a:r>
              <a:t>Forces: excitation, buoyancy, radiation damping</a:t>
            </a:r>
          </a:p>
          <a:p>
            <a:r>
              <a:t>Power Take-Off (PTO) acts as controllable damping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Comparable </a:t>
            </a:r>
            <a:r>
              <a:rPr dirty="0"/>
              <a:t>Mathematical Model</a:t>
            </a:r>
            <a:r>
              <a:rPr lang="en-GB" dirty="0"/>
              <a:t>ling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Modelled as a forced damped oscillator</a:t>
            </a:r>
          </a:p>
          <a:p>
            <a:r>
              <a:rPr dirty="0"/>
              <a:t>Includes added mass and hydrostatic stiffness</a:t>
            </a:r>
          </a:p>
          <a:p>
            <a:r>
              <a:rPr dirty="0"/>
              <a:t>Cummins equation introduces memory effects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Hydrodynamic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Capytaine</a:t>
            </a:r>
            <a:r>
              <a:rPr dirty="0"/>
              <a:t> BEM solver used</a:t>
            </a:r>
          </a:p>
          <a:p>
            <a:r>
              <a:rPr dirty="0"/>
              <a:t>Computes added mass and damping</a:t>
            </a:r>
          </a:p>
          <a:p>
            <a:r>
              <a:rPr dirty="0"/>
              <a:t>Provides excitation forces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Modelling</a:t>
            </a:r>
            <a:r>
              <a:rPr lang="en-GB" dirty="0"/>
              <a:t> Sea States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Real waves are irregular</a:t>
            </a:r>
          </a:p>
          <a:p>
            <a:r>
              <a:rPr dirty="0"/>
              <a:t>JONSWAP spectrum used</a:t>
            </a:r>
          </a:p>
          <a:p>
            <a:r>
              <a:rPr dirty="0"/>
              <a:t>Multiple frequencies with random phases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BECB5-292C-0FAC-BE94-DB7EA28D3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A8648E-2CC6-5C90-6D7F-7B4C6B84C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Passive Damping</a:t>
            </a:r>
          </a:p>
          <a:p>
            <a:r>
              <a:rPr lang="en-GB" dirty="0"/>
              <a:t>Predictive Damping</a:t>
            </a:r>
          </a:p>
          <a:p>
            <a:r>
              <a:rPr lang="en-GB" dirty="0"/>
              <a:t>Latch Control</a:t>
            </a:r>
          </a:p>
          <a:p>
            <a:r>
              <a:rPr lang="en-GB" dirty="0"/>
              <a:t>RL Control</a:t>
            </a:r>
          </a:p>
        </p:txBody>
      </p:sp>
    </p:spTree>
    <p:extLst>
      <p:ext uri="{BB962C8B-B14F-4D97-AF65-F5344CB8AC3E}">
        <p14:creationId xmlns:p14="http://schemas.microsoft.com/office/powerpoint/2010/main" val="18167024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20DE7-21BA-4CE9-1242-89875301F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Prerequisite for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11827-53E6-D470-9DB2-DD5BC63D6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Kalman Filter</a:t>
            </a:r>
          </a:p>
          <a:p>
            <a:r>
              <a:rPr lang="en-GB" dirty="0"/>
              <a:t>Autoregressive Model </a:t>
            </a:r>
          </a:p>
        </p:txBody>
      </p:sp>
    </p:spTree>
    <p:extLst>
      <p:ext uri="{BB962C8B-B14F-4D97-AF65-F5344CB8AC3E}">
        <p14:creationId xmlns:p14="http://schemas.microsoft.com/office/powerpoint/2010/main" val="1666967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B11F3-AF95-B70D-0B83-93619F437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Passive Damping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6E862-163B-64B7-DEA0-D7B9B279B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it is?</a:t>
            </a:r>
          </a:p>
          <a:p>
            <a:r>
              <a:rPr lang="en-GB" dirty="0"/>
              <a:t>Analytical tuning</a:t>
            </a:r>
          </a:p>
          <a:p>
            <a:r>
              <a:rPr lang="en-GB" dirty="0"/>
              <a:t>Grid search tuning</a:t>
            </a:r>
          </a:p>
          <a:p>
            <a:r>
              <a:rPr lang="en-GB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240379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610B0-5834-75E7-1806-5749FE248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Latching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564A4-2AD2-8026-4B1C-E389C8A601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it is?</a:t>
            </a:r>
          </a:p>
          <a:p>
            <a:r>
              <a:rPr lang="en-GB" dirty="0"/>
              <a:t>Aim to keep excitation force and buoy in phase.</a:t>
            </a:r>
          </a:p>
          <a:p>
            <a:r>
              <a:rPr lang="en-GB" dirty="0"/>
              <a:t>Results.</a:t>
            </a:r>
          </a:p>
          <a:p>
            <a:r>
              <a:rPr lang="en-GB" dirty="0"/>
              <a:t>Comparison via Optimal Command Theory</a:t>
            </a:r>
          </a:p>
          <a:p>
            <a:r>
              <a:rPr lang="en-GB" dirty="0"/>
              <a:t>How Optimal Command Theory can be used with neural networks to be used as a real-time control.</a:t>
            </a:r>
          </a:p>
        </p:txBody>
      </p:sp>
    </p:spTree>
    <p:extLst>
      <p:ext uri="{BB962C8B-B14F-4D97-AF65-F5344CB8AC3E}">
        <p14:creationId xmlns:p14="http://schemas.microsoft.com/office/powerpoint/2010/main" val="2769188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8AB52-1A06-C430-084D-A7900A9D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Predictive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70841-EF9D-69F5-6A03-FE25ABCCF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it is?</a:t>
            </a:r>
          </a:p>
          <a:p>
            <a:r>
              <a:rPr lang="en-GB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1390358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Control improves performance</a:t>
            </a:r>
          </a:p>
          <a:p>
            <a:r>
              <a:t>Requires sensing and timing</a:t>
            </a:r>
          </a:p>
          <a:p>
            <a:r>
              <a:t>Sensitive to wave conditions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Model successfully developed</a:t>
            </a:r>
          </a:p>
          <a:p>
            <a:r>
              <a:t>Realistic sea conditions simulated</a:t>
            </a:r>
          </a:p>
          <a:p>
            <a:r>
              <a:t>Latching improves energy capture</a:t>
            </a:r>
          </a:p>
          <a:p>
            <a:r>
              <a:t>Control strategy is critical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Extend to multi-degree motion</a:t>
            </a:r>
          </a:p>
          <a:p>
            <a:r>
              <a:rPr dirty="0"/>
              <a:t>Nonlinear modelling</a:t>
            </a:r>
          </a:p>
          <a:p>
            <a:r>
              <a:rPr lang="en-GB" dirty="0"/>
              <a:t>Further </a:t>
            </a:r>
            <a:r>
              <a:rPr dirty="0"/>
              <a:t>Adaptive control strategies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228</Words>
  <Application>Microsoft Office PowerPoint</Application>
  <PresentationFormat>Widescreen</PresentationFormat>
  <Paragraphs>59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Wave Energy Converter Control Strategies</vt:lpstr>
      <vt:lpstr>Problem Overview</vt:lpstr>
      <vt:lpstr>Physical System</vt:lpstr>
      <vt:lpstr>Comparable Mathematical Modelling</vt:lpstr>
      <vt:lpstr>Hydrodynamic Model</vt:lpstr>
      <vt:lpstr>Modelling Sea States</vt:lpstr>
      <vt:lpstr>Control Strategies</vt:lpstr>
      <vt:lpstr>Prerequisite for Control</vt:lpstr>
      <vt:lpstr>Passive Damping</vt:lpstr>
      <vt:lpstr>Latching Control</vt:lpstr>
      <vt:lpstr>Model Predictive Control</vt:lpstr>
      <vt:lpstr>Discussion</vt:lpstr>
      <vt:lpstr>Conclusion</vt:lpstr>
      <vt:lpstr>Future Work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edward schuster-bruce</dc:creator>
  <cp:keywords/>
  <dc:description>generated using python-pptx</dc:description>
  <cp:lastModifiedBy>Ed Schuster Bruce</cp:lastModifiedBy>
  <cp:revision>3</cp:revision>
  <dcterms:created xsi:type="dcterms:W3CDTF">2013-01-27T09:14:16Z</dcterms:created>
  <dcterms:modified xsi:type="dcterms:W3CDTF">2026-04-07T11:18:05Z</dcterms:modified>
  <cp:category/>
</cp:coreProperties>
</file>